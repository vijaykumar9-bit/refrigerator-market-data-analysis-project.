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1" r:id="rId3"/>
    <p:sldId id="257" r:id="rId4"/>
    <p:sldId id="258" r:id="rId5"/>
    <p:sldId id="259" r:id="rId6"/>
    <p:sldId id="275" r:id="rId7"/>
    <p:sldId id="276" r:id="rId8"/>
    <p:sldId id="277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4" r:id="rId20"/>
    <p:sldId id="273" r:id="rId21"/>
  </p:sldIdLst>
  <p:sldSz cx="12192000" cy="6858000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Lato Black" panose="020F0502020204030203" pitchFamily="34" charset="0"/>
      <p:bold r:id="rId27"/>
      <p:boldItalic r:id="rId28"/>
    </p:embeddedFont>
    <p:embeddedFont>
      <p:font typeface="Libre Baskerville" panose="02000000000000000000" pitchFamily="2" charset="0"/>
      <p:regular r:id="rId29"/>
      <p:bold r:id="rId30"/>
      <p:italic r:id="rId31"/>
    </p:embeddedFont>
    <p:embeddedFont>
      <p:font typeface="Merriweather" panose="000005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3E6"/>
    <a:srgbClr val="FCEBE0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BFC34-1F28-4F92-A9F1-73165DAB6F8A}" v="29" dt="2026-05-20T09:37:58.848"/>
  </p1510:revLst>
</p1510:revInfo>
</file>

<file path=ppt/tableStyles.xml><?xml version="1.0" encoding="utf-8"?>
<a:tblStyleLst xmlns:a="http://schemas.openxmlformats.org/drawingml/2006/main" def="{E03F9351-0E27-44A9-8FC1-7EED64FAAD12}">
  <a:tblStyle styleId="{E03F9351-0E27-44A9-8FC1-7EED64FAAD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ANAND" userId="3266519d19b11ace" providerId="LiveId" clId="{B00D9515-5694-4067-98DE-D1474E7120A5}"/>
    <pc:docChg chg="undo custSel addSld modSld sldOrd">
      <pc:chgData name="ABHINAV ANAND" userId="3266519d19b11ace" providerId="LiveId" clId="{B00D9515-5694-4067-98DE-D1474E7120A5}" dt="2026-05-20T09:55:00.134" v="132" actId="20577"/>
      <pc:docMkLst>
        <pc:docMk/>
      </pc:docMkLst>
      <pc:sldChg chg="modSp mod">
        <pc:chgData name="ABHINAV ANAND" userId="3266519d19b11ace" providerId="LiveId" clId="{B00D9515-5694-4067-98DE-D1474E7120A5}" dt="2026-05-20T06:02:58.109" v="0" actId="313"/>
        <pc:sldMkLst>
          <pc:docMk/>
          <pc:sldMk cId="0" sldId="257"/>
        </pc:sldMkLst>
        <pc:spChg chg="mod">
          <ac:chgData name="ABHINAV ANAND" userId="3266519d19b11ace" providerId="LiveId" clId="{B00D9515-5694-4067-98DE-D1474E7120A5}" dt="2026-05-20T06:02:58.109" v="0" actId="313"/>
          <ac:spMkLst>
            <pc:docMk/>
            <pc:sldMk cId="0" sldId="257"/>
            <ac:spMk id="94" creationId="{00000000-0000-0000-0000-000000000000}"/>
          </ac:spMkLst>
        </pc:spChg>
      </pc:sldChg>
      <pc:sldChg chg="addSp delSp mod ord setBg">
        <pc:chgData name="ABHINAV ANAND" userId="3266519d19b11ace" providerId="LiveId" clId="{B00D9515-5694-4067-98DE-D1474E7120A5}" dt="2026-05-20T09:15:54.706" v="42"/>
        <pc:sldMkLst>
          <pc:docMk/>
          <pc:sldMk cId="0" sldId="260"/>
        </pc:sldMkLst>
        <pc:spChg chg="add del">
          <ac:chgData name="ABHINAV ANAND" userId="3266519d19b11ace" providerId="LiveId" clId="{B00D9515-5694-4067-98DE-D1474E7120A5}" dt="2026-05-20T09:15:20.338" v="40" actId="22"/>
          <ac:spMkLst>
            <pc:docMk/>
            <pc:sldMk cId="0" sldId="260"/>
            <ac:spMk id="3" creationId="{87BFB474-BED8-34B5-6EEB-4CE25398474F}"/>
          </ac:spMkLst>
        </pc:spChg>
      </pc:sldChg>
      <pc:sldChg chg="modSp mod">
        <pc:chgData name="ABHINAV ANAND" userId="3266519d19b11ace" providerId="LiveId" clId="{B00D9515-5694-4067-98DE-D1474E7120A5}" dt="2026-05-20T09:54:14.956" v="128" actId="20577"/>
        <pc:sldMkLst>
          <pc:docMk/>
          <pc:sldMk cId="0" sldId="262"/>
        </pc:sldMkLst>
        <pc:spChg chg="mod">
          <ac:chgData name="ABHINAV ANAND" userId="3266519d19b11ace" providerId="LiveId" clId="{B00D9515-5694-4067-98DE-D1474E7120A5}" dt="2026-05-20T09:54:14.956" v="128" actId="20577"/>
          <ac:spMkLst>
            <pc:docMk/>
            <pc:sldMk cId="0" sldId="262"/>
            <ac:spMk id="166" creationId="{00000000-0000-0000-0000-000000000000}"/>
          </ac:spMkLst>
        </pc:spChg>
      </pc:sldChg>
      <pc:sldChg chg="modSp mod">
        <pc:chgData name="ABHINAV ANAND" userId="3266519d19b11ace" providerId="LiveId" clId="{B00D9515-5694-4067-98DE-D1474E7120A5}" dt="2026-05-20T09:55:00.134" v="132" actId="20577"/>
        <pc:sldMkLst>
          <pc:docMk/>
          <pc:sldMk cId="0" sldId="264"/>
        </pc:sldMkLst>
        <pc:spChg chg="mod">
          <ac:chgData name="ABHINAV ANAND" userId="3266519d19b11ace" providerId="LiveId" clId="{B00D9515-5694-4067-98DE-D1474E7120A5}" dt="2026-05-20T09:55:00.134" v="132" actId="20577"/>
          <ac:spMkLst>
            <pc:docMk/>
            <pc:sldMk cId="0" sldId="264"/>
            <ac:spMk id="188" creationId="{00000000-0000-0000-0000-000000000000}"/>
          </ac:spMkLst>
        </pc:spChg>
      </pc:sldChg>
      <pc:sldChg chg="addSp delSp modSp new mod ord">
        <pc:chgData name="ABHINAV ANAND" userId="3266519d19b11ace" providerId="LiveId" clId="{B00D9515-5694-4067-98DE-D1474E7120A5}" dt="2026-05-20T09:38:29.812" v="119" actId="20577"/>
        <pc:sldMkLst>
          <pc:docMk/>
          <pc:sldMk cId="965897196" sldId="275"/>
        </pc:sldMkLst>
        <pc:spChg chg="add del mod">
          <ac:chgData name="ABHINAV ANAND" userId="3266519d19b11ace" providerId="LiveId" clId="{B00D9515-5694-4067-98DE-D1474E7120A5}" dt="2026-05-20T09:35:44.810" v="86" actId="478"/>
          <ac:spMkLst>
            <pc:docMk/>
            <pc:sldMk cId="965897196" sldId="275"/>
            <ac:spMk id="2" creationId="{E7A52E16-4A7F-CEDC-4D33-39D0DBED07A0}"/>
          </ac:spMkLst>
        </pc:spChg>
        <pc:spChg chg="add del mod">
          <ac:chgData name="ABHINAV ANAND" userId="3266519d19b11ace" providerId="LiveId" clId="{B00D9515-5694-4067-98DE-D1474E7120A5}" dt="2026-05-20T09:34:02.254" v="77" actId="21"/>
          <ac:spMkLst>
            <pc:docMk/>
            <pc:sldMk cId="965897196" sldId="275"/>
            <ac:spMk id="3" creationId="{1023E529-96B1-5089-CA94-AE6FAF55CE53}"/>
          </ac:spMkLst>
        </pc:spChg>
        <pc:spChg chg="add del mod">
          <ac:chgData name="ABHINAV ANAND" userId="3266519d19b11ace" providerId="LiveId" clId="{B00D9515-5694-4067-98DE-D1474E7120A5}" dt="2026-05-20T09:36:34.801" v="93" actId="478"/>
          <ac:spMkLst>
            <pc:docMk/>
            <pc:sldMk cId="965897196" sldId="275"/>
            <ac:spMk id="4" creationId="{36273AEF-C1A4-38E1-AEBF-B22403C1CF1B}"/>
          </ac:spMkLst>
        </pc:spChg>
        <pc:spChg chg="add del mod">
          <ac:chgData name="ABHINAV ANAND" userId="3266519d19b11ace" providerId="LiveId" clId="{B00D9515-5694-4067-98DE-D1474E7120A5}" dt="2026-05-20T09:34:08.625" v="79" actId="478"/>
          <ac:spMkLst>
            <pc:docMk/>
            <pc:sldMk cId="965897196" sldId="275"/>
            <ac:spMk id="7" creationId="{1023E529-96B1-5089-CA94-AE6FAF55CE53}"/>
          </ac:spMkLst>
        </pc:spChg>
        <pc:spChg chg="add mod">
          <ac:chgData name="ABHINAV ANAND" userId="3266519d19b11ace" providerId="LiveId" clId="{B00D9515-5694-4067-98DE-D1474E7120A5}" dt="2026-05-20T09:38:29.812" v="119" actId="20577"/>
          <ac:spMkLst>
            <pc:docMk/>
            <pc:sldMk cId="965897196" sldId="275"/>
            <ac:spMk id="10" creationId="{0C996688-79DC-D5AC-65C1-8B522B24465A}"/>
          </ac:spMkLst>
        </pc:spChg>
        <pc:picChg chg="add mod">
          <ac:chgData name="ABHINAV ANAND" userId="3266519d19b11ace" providerId="LiveId" clId="{B00D9515-5694-4067-98DE-D1474E7120A5}" dt="2026-05-20T09:38:21.079" v="117" actId="14100"/>
          <ac:picMkLst>
            <pc:docMk/>
            <pc:sldMk cId="965897196" sldId="275"/>
            <ac:picMk id="6" creationId="{14B72328-9B91-E3FB-1155-711D780CB0A8}"/>
          </ac:picMkLst>
        </pc:picChg>
        <pc:picChg chg="add del mod">
          <ac:chgData name="ABHINAV ANAND" userId="3266519d19b11ace" providerId="LiveId" clId="{B00D9515-5694-4067-98DE-D1474E7120A5}" dt="2026-05-20T09:35:33.158" v="82" actId="478"/>
          <ac:picMkLst>
            <pc:docMk/>
            <pc:sldMk cId="965897196" sldId="275"/>
            <ac:picMk id="9" creationId="{E2739A8E-0113-463E-367D-D2F005E84784}"/>
          </ac:picMkLst>
        </pc:picChg>
      </pc:sldChg>
      <pc:sldChg chg="addSp delSp modSp new mod setBg">
        <pc:chgData name="ABHINAV ANAND" userId="3266519d19b11ace" providerId="LiveId" clId="{B00D9515-5694-4067-98DE-D1474E7120A5}" dt="2026-05-20T09:18:56.679" v="71" actId="14100"/>
        <pc:sldMkLst>
          <pc:docMk/>
          <pc:sldMk cId="103670638" sldId="276"/>
        </pc:sldMkLst>
        <pc:spChg chg="add del mod">
          <ac:chgData name="ABHINAV ANAND" userId="3266519d19b11ace" providerId="LiveId" clId="{B00D9515-5694-4067-98DE-D1474E7120A5}" dt="2026-05-20T09:18:02.642" v="49"/>
          <ac:spMkLst>
            <pc:docMk/>
            <pc:sldMk cId="103670638" sldId="276"/>
            <ac:spMk id="2" creationId="{A8B8C21E-4308-91B6-44B1-56269CBB8395}"/>
          </ac:spMkLst>
        </pc:spChg>
        <pc:spChg chg="add mod">
          <ac:chgData name="ABHINAV ANAND" userId="3266519d19b11ace" providerId="LiveId" clId="{B00D9515-5694-4067-98DE-D1474E7120A5}" dt="2026-05-20T09:18:25.952" v="65" actId="113"/>
          <ac:spMkLst>
            <pc:docMk/>
            <pc:sldMk cId="103670638" sldId="276"/>
            <ac:spMk id="3" creationId="{4ED24FCC-B0B8-FB28-87F2-4A095498B14D}"/>
          </ac:spMkLst>
        </pc:spChg>
        <pc:picChg chg="add mod">
          <ac:chgData name="ABHINAV ANAND" userId="3266519d19b11ace" providerId="LiveId" clId="{B00D9515-5694-4067-98DE-D1474E7120A5}" dt="2026-05-20T09:18:56.679" v="71" actId="14100"/>
          <ac:picMkLst>
            <pc:docMk/>
            <pc:sldMk cId="103670638" sldId="276"/>
            <ac:picMk id="5" creationId="{1B2DBC38-FD63-8B6C-4757-F89C20272939}"/>
          </ac:picMkLst>
        </pc:picChg>
      </pc:sldChg>
      <pc:sldChg chg="addSp new mod ord">
        <pc:chgData name="ABHINAV ANAND" userId="3266519d19b11ace" providerId="LiveId" clId="{B00D9515-5694-4067-98DE-D1474E7120A5}" dt="2026-05-20T09:21:46.775" v="75" actId="22"/>
        <pc:sldMkLst>
          <pc:docMk/>
          <pc:sldMk cId="1014244965" sldId="277"/>
        </pc:sldMkLst>
        <pc:picChg chg="add">
          <ac:chgData name="ABHINAV ANAND" userId="3266519d19b11ace" providerId="LiveId" clId="{B00D9515-5694-4067-98DE-D1474E7120A5}" dt="2026-05-20T09:21:46.775" v="75" actId="22"/>
          <ac:picMkLst>
            <pc:docMk/>
            <pc:sldMk cId="1014244965" sldId="277"/>
            <ac:picMk id="3" creationId="{FB9446F4-2EE9-88A1-DB7A-2548195E28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9E4E267D-B0D3-3856-3759-800240EC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>
            <a:extLst>
              <a:ext uri="{FF2B5EF4-FFF2-40B4-BE49-F238E27FC236}">
                <a16:creationId xmlns:a16="http://schemas.microsoft.com/office/drawing/2014/main" id="{9D793E1A-E578-5673-28CF-C3F27DCFC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:notes">
            <a:extLst>
              <a:ext uri="{FF2B5EF4-FFF2-40B4-BE49-F238E27FC236}">
                <a16:creationId xmlns:a16="http://schemas.microsoft.com/office/drawing/2014/main" id="{442C84B2-4848-116E-B384-79E8BF7FA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97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0016EC39-64D0-2F96-A18E-DC7A6211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>
            <a:extLst>
              <a:ext uri="{FF2B5EF4-FFF2-40B4-BE49-F238E27FC236}">
                <a16:creationId xmlns:a16="http://schemas.microsoft.com/office/drawing/2014/main" id="{0525AB00-120A-2CAD-6EBB-D2FCF6029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:notes">
            <a:extLst>
              <a:ext uri="{FF2B5EF4-FFF2-40B4-BE49-F238E27FC236}">
                <a16:creationId xmlns:a16="http://schemas.microsoft.com/office/drawing/2014/main" id="{0050DDCC-D6ED-8C54-E65F-45D41345E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9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75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670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03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498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8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70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387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1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981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41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6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587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/www.linkedin.com/in/vijay-rao-alladi-93691b304?utm_source=share&amp;utm_campaign=share_via&amp;utm_content=profile&amp;utm_medium=android_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linkedin.com/in/abhinav-anand-913b78342?utm_source=share&amp;utm_campaign=share_via&amp;utm_content=profile&amp;utm_medium=android_app" TargetMode="External"/><Relationship Id="rId4" Type="http://schemas.openxmlformats.org/officeDocument/2006/relationships/hyperlink" Target="http://https/www.linkedin.com/in/shoyab-raza-raza-648a86280?utm_source=share&amp;utm_campaign=share_via&amp;utm_content=profile&amp;utm_medium=android_ap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08B582F9-6054-7D23-4864-4491AFD833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11561" y="3827754"/>
            <a:ext cx="467193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Refrigerator Market</a:t>
            </a:r>
            <a:br>
              <a:rPr lang="en-US" sz="36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 Data Analysis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71624" y="5503300"/>
            <a:ext cx="90487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A Comprehensive Data-Driven Study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5;p3">
            <a:extLst>
              <a:ext uri="{FF2B5EF4-FFF2-40B4-BE49-F238E27FC236}">
                <a16:creationId xmlns:a16="http://schemas.microsoft.com/office/drawing/2014/main" id="{5B5CE614-D849-5E3E-4BF4-42DF873FC7CF}"/>
              </a:ext>
            </a:extLst>
          </p:cNvPr>
          <p:cNvSpPr txBox="1"/>
          <p:nvPr/>
        </p:nvSpPr>
        <p:spPr>
          <a:xfrm>
            <a:off x="560440" y="620090"/>
            <a:ext cx="630182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40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group</a:t>
            </a:r>
            <a:endParaRPr sz="4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B0D7F-38F8-D348-582C-36A43148BD4B}"/>
              </a:ext>
            </a:extLst>
          </p:cNvPr>
          <p:cNvSpPr txBox="1"/>
          <p:nvPr/>
        </p:nvSpPr>
        <p:spPr>
          <a:xfrm>
            <a:off x="471901" y="1674674"/>
            <a:ext cx="11371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Alladi Vijay Kumar:    Data Analytics (batch 495)</a:t>
            </a:r>
          </a:p>
          <a:p>
            <a:r>
              <a:rPr lang="en-US" sz="1800" b="1" dirty="0"/>
              <a:t>Education : MBA graduate </a:t>
            </a:r>
          </a:p>
          <a:p>
            <a:r>
              <a:rPr lang="en-US" sz="1800" b="1" dirty="0"/>
              <a:t>LinkedIn: </a:t>
            </a:r>
            <a:r>
              <a:rPr lang="en-US" sz="1800" b="1" dirty="0">
                <a:hlinkClick r:id="rId3"/>
              </a:rPr>
              <a:t>https://www.linkedin.com/in/vijay-rao-alladi-93691b304?utm_source=share&amp;utm_campaign=share_via&amp;utm_content=profile&amp;utm_medium=android_app</a:t>
            </a:r>
          </a:p>
          <a:p>
            <a:r>
              <a:rPr lang="en-US" sz="1800" b="1" dirty="0">
                <a:hlinkClick r:id="rId3"/>
              </a:rPr>
              <a:t>	                 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77BC7-DC71-B1F3-62F4-12CFBF1BE2D4}"/>
              </a:ext>
            </a:extLst>
          </p:cNvPr>
          <p:cNvSpPr txBox="1"/>
          <p:nvPr/>
        </p:nvSpPr>
        <p:spPr>
          <a:xfrm>
            <a:off x="471901" y="3273671"/>
            <a:ext cx="113710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Shaik </a:t>
            </a:r>
            <a:r>
              <a:rPr lang="en-US" sz="1800" b="1" dirty="0" err="1"/>
              <a:t>Shoyab</a:t>
            </a:r>
            <a:r>
              <a:rPr lang="en-US" sz="1800" b="1" dirty="0"/>
              <a:t> Raza: Data Analytics (batch 495)</a:t>
            </a:r>
          </a:p>
          <a:p>
            <a:r>
              <a:rPr lang="en-US" sz="1800" b="1" dirty="0"/>
              <a:t>Education : B-tech CSE(data science)</a:t>
            </a:r>
          </a:p>
          <a:p>
            <a:r>
              <a:rPr lang="en-US" sz="1800" b="1" dirty="0"/>
              <a:t>LinkedIn : </a:t>
            </a:r>
            <a:r>
              <a:rPr lang="en-US" sz="1800" b="1" dirty="0">
                <a:hlinkClick r:id="rId4"/>
              </a:rPr>
              <a:t>https://www.linkedin.com/in/shoyab-raza-raza-648a86280?utm_source=share&amp;utm_campaign=share_via&amp;utm_content=profile&amp;utm_medium=android_app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8DDBE-1C6B-451F-7262-03E2DC24C5FB}"/>
              </a:ext>
            </a:extLst>
          </p:cNvPr>
          <p:cNvSpPr txBox="1"/>
          <p:nvPr/>
        </p:nvSpPr>
        <p:spPr>
          <a:xfrm>
            <a:off x="471901" y="4964118"/>
            <a:ext cx="112825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Abhinav Anand: Data Analytics (495)</a:t>
            </a:r>
          </a:p>
          <a:p>
            <a:r>
              <a:rPr lang="en-US" sz="1800" b="1" dirty="0"/>
              <a:t>Education : Bachelor in Computer Application (BCA)</a:t>
            </a:r>
          </a:p>
          <a:p>
            <a:r>
              <a:rPr lang="en-US" sz="1800" b="1" dirty="0"/>
              <a:t>LinkedIn :</a:t>
            </a:r>
            <a:r>
              <a:rPr lang="en-US" sz="1800" b="1" dirty="0">
                <a:hlinkClick r:id="rId5"/>
              </a:rPr>
              <a:t>https://www.linkedin.com/in/abhinav-anand-913b78342?utm_source=share&amp;utm_campaign=share_via&amp;utm_content=profile&amp;utm_medium=android_app</a:t>
            </a:r>
            <a:endParaRPr lang="en-US" sz="1800" b="1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5524500" y="2138362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820715" y="2481262"/>
            <a:ext cx="4550568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3538537"/>
            <a:ext cx="8572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Analyzing the refrigerator segment reveals a highly competitive landscape driven by e-commerce expansion and consumer demand for high-performance, energy-efficient appliances fro</a:t>
            </a:r>
            <a:r>
              <a:rPr lang="en-US" sz="1800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m Flipkart </a:t>
            </a:r>
            <a:r>
              <a:rPr lang="en-US" sz="1800" b="0" i="0" u="none" strike="noStrike" cap="none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24844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324844"/>
            <a:ext cx="349254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324844"/>
            <a:ext cx="349254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352579" y="3801219"/>
            <a:ext cx="193024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Foundations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4515594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Methodology and rigorous data cleaning processes employed to ensure accuracy.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440918" y="3801219"/>
            <a:ext cx="131016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30799" y="4515594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Detailed insights from Univariate, Bivariate, and Multivariate visualizations.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104203" y="3801219"/>
            <a:ext cx="15401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09099" y="4515594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Strategic conclusions based on discovered market correlations and trends.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7675" y="276299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276299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2849" y="2762994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Agenda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91569"/>
            <a:ext cx="528637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91569"/>
            <a:ext cx="52863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52500" y="3477369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Complexity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4048869"/>
            <a:ext cx="4524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With thousands of models, consumers face "choice paralysis." Identifying the specific features that drive value is critical for market positioning.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715125" y="3477369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Pricing Strategy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15125" y="4048869"/>
            <a:ext cx="4524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Retailers need to understand the correlation between star ratings, door types, and price premiums to optimize inventory.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B72328-9B91-E3FB-1155-711D780CB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297" y="997097"/>
            <a:ext cx="4058355" cy="4960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96688-79DC-D5AC-65C1-8B522B24465A}"/>
              </a:ext>
            </a:extLst>
          </p:cNvPr>
          <p:cNvSpPr txBox="1"/>
          <p:nvPr/>
        </p:nvSpPr>
        <p:spPr>
          <a:xfrm>
            <a:off x="501716" y="509826"/>
            <a:ext cx="745258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Web Scraping: Refrigerator Data Project</a:t>
            </a:r>
          </a:p>
          <a:p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Flipkart</a:t>
            </a:r>
            <a:r>
              <a:rPr lang="en-US" sz="1800" dirty="0"/>
              <a:t> was selected as the target e-commerce data source for retrieving comprehensive refrigerator listings.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Used </a:t>
            </a:r>
            <a:r>
              <a:rPr lang="en-US" sz="1800" b="1" dirty="0"/>
              <a:t>browser developer tools (Inspect Element)</a:t>
            </a:r>
            <a:r>
              <a:rPr lang="en-US" sz="1800" dirty="0"/>
              <a:t> to locate parent container cards (div class ZFwe0M row) and child element tags.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Passed a custom </a:t>
            </a:r>
            <a:r>
              <a:rPr lang="en-US" sz="1800" b="1" dirty="0"/>
              <a:t>User-Agent spoofed header</a:t>
            </a:r>
            <a:r>
              <a:rPr lang="en-US" sz="1800" dirty="0"/>
              <a:t> into HTTP requests to bypass security restrictions and avoid </a:t>
            </a:r>
            <a:r>
              <a:rPr lang="en-US" sz="1800" b="1" dirty="0"/>
              <a:t>403 Forbidden</a:t>
            </a:r>
            <a:r>
              <a:rPr lang="en-US" sz="1800" dirty="0"/>
              <a:t>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Scaled extraction automatically using a dynamic multi-page iteration loop to capture data continuously across </a:t>
            </a:r>
            <a:r>
              <a:rPr lang="en-US" sz="1800" b="1" dirty="0"/>
              <a:t>105 pages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Utilized </a:t>
            </a:r>
            <a:r>
              <a:rPr lang="en-US" sz="1800" b="1" dirty="0"/>
              <a:t>BeautifulSoup and Requests</a:t>
            </a:r>
            <a:r>
              <a:rPr lang="en-US" sz="1800" dirty="0"/>
              <a:t> to parse and target specific attributes like Product Name, Current Price, Original Price, Ratings, and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Built dynamic structural error handling via </a:t>
            </a:r>
            <a:r>
              <a:rPr lang="en-US" sz="1800" b="1" dirty="0"/>
              <a:t>NumPy inline logic (np.nan)</a:t>
            </a:r>
            <a:r>
              <a:rPr lang="en-US" sz="1800" dirty="0"/>
              <a:t> to keep the script running smoothly if features were missing on a card.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Structured all harvested vectors into a structured </a:t>
            </a:r>
            <a:r>
              <a:rPr lang="en-US" sz="1800" b="1" dirty="0"/>
              <a:t>Pandas DataFrame</a:t>
            </a:r>
            <a:r>
              <a:rPr lang="en-US" sz="1800" dirty="0"/>
              <a:t> and serialized the dataset directly into a permanent </a:t>
            </a:r>
            <a:r>
              <a:rPr lang="en-US" sz="1800" b="1" dirty="0"/>
              <a:t>Refrigerator.csv</a:t>
            </a:r>
            <a:r>
              <a:rPr lang="en-US" sz="1800" dirty="0"/>
              <a:t>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9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24FCC-B0B8-FB28-87F2-4A095498B14D}"/>
              </a:ext>
            </a:extLst>
          </p:cNvPr>
          <p:cNvSpPr txBox="1"/>
          <p:nvPr/>
        </p:nvSpPr>
        <p:spPr>
          <a:xfrm>
            <a:off x="589935" y="589935"/>
            <a:ext cx="4984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Dataset :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DBC38-FD63-8B6C-4757-F89C2027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" y="1174710"/>
            <a:ext cx="10854813" cy="50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446F4-2EE9-88A1-DB7A-2548195E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73" y="887510"/>
            <a:ext cx="9609653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4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6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1809750" y="3029694"/>
            <a:ext cx="904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Ingestion:</a:t>
            </a:r>
            <a:r>
              <a:rPr lang="en-US" sz="165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 Importing structured Refrigerator datasets from Python/Pandas.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809750" y="3582144"/>
            <a:ext cx="904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Cleaning:</a:t>
            </a:r>
            <a:r>
              <a:rPr lang="en-US" sz="165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 Handling null values and stripping duplicates via regular expressions.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809750" y="4134594"/>
            <a:ext cx="904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Extraction:</a:t>
            </a:r>
            <a:r>
              <a:rPr lang="en-US" sz="165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 Using Regex to parse features like Brand, Capacity, and Ratings.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809750" y="4687044"/>
            <a:ext cx="904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Analysis:</a:t>
            </a:r>
            <a:r>
              <a:rPr lang="en-US" sz="165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 Implementing Seaborn and Matplotlib for multi-dimensional EDA.</a:t>
            </a:r>
            <a:endParaRPr/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307255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362500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17745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4729906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Analysis Process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571500" y="2520106"/>
            <a:ext cx="11049000" cy="3228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8"/>
          <p:cNvGraphicFramePr/>
          <p:nvPr/>
        </p:nvGraphicFramePr>
        <p:xfrm>
          <a:off x="571500" y="2520106"/>
          <a:ext cx="11049000" cy="3229000"/>
        </p:xfrm>
        <a:graphic>
          <a:graphicData uri="http://schemas.openxmlformats.org/drawingml/2006/table">
            <a:tbl>
              <a:tblPr firstRow="1" bandRow="1">
                <a:noFill/>
                <a:tableStyleId>{E03F9351-0E27-44A9-8FC1-7EED64FAAD12}</a:tableStyleId>
              </a:tblPr>
              <a:tblGrid>
                <a:gridCol w="233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Metric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 Records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Initial 2520 entries from major e-commerce platforms.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Unique Brands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Categorized into 27 distinct market players.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Encoded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Pricing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Converted from formatted strings to numerical values.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Calculated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 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Energy efficiency ratings extracted from product titles.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6" name="Google Shape;146;p18"/>
          <p:cNvSpPr/>
          <p:nvPr/>
        </p:nvSpPr>
        <p:spPr>
          <a:xfrm>
            <a:off x="571500" y="3820269"/>
            <a:ext cx="233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2908994" y="3820269"/>
            <a:ext cx="69486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9857630" y="3820269"/>
            <a:ext cx="1762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71500" y="4458444"/>
            <a:ext cx="233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908994" y="4458444"/>
            <a:ext cx="69486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9857630" y="4458444"/>
            <a:ext cx="1762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5096619"/>
            <a:ext cx="233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908994" y="5096619"/>
            <a:ext cx="69486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9857630" y="5096619"/>
            <a:ext cx="1762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5734794"/>
            <a:ext cx="233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908994" y="5734794"/>
            <a:ext cx="69486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9857630" y="5734794"/>
            <a:ext cx="17628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Attributes Summary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146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296269"/>
            <a:ext cx="55506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solidFill>
                  <a:srgbClr val="0070C0"/>
                </a:solidFill>
              </a:rPr>
              <a:t>Market Share Concentration:</a:t>
            </a:r>
            <a:endParaRPr sz="2800" dirty="0">
              <a:solidFill>
                <a:srgbClr val="0070C0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092099"/>
            <a:ext cx="5286375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dirty="0"/>
              <a:t>"The refrigerator segment exhibits a high degree of market concentration, with </a:t>
            </a:r>
            <a:r>
              <a:rPr lang="en-US" sz="1800" b="1" dirty="0"/>
              <a:t>Samsung and Haier</a:t>
            </a:r>
            <a:r>
              <a:rPr lang="en-US" sz="1800" dirty="0"/>
              <a:t> collectively commanding the largest share of listings, reflecting their extensive manufacturing and distribution networks."</a:t>
            </a:r>
            <a:endParaRPr sz="180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Univariate: Brand Distribution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2EB807-CFB1-AD4B-6655-A22030E83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626" y="2091019"/>
            <a:ext cx="5053779" cy="40836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146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229626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Skewed Market Trends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867769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The distribution of selling prices is positively skewed (right-skewed), meaning most refrigerators are clustered at lower price points.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8869"/>
            <a:ext cx="1509861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Univariate: Price Distribution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6D8B1-459C-9183-9CA3-C717D3FD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129" y="2081893"/>
            <a:ext cx="5094514" cy="41335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146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229626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Efficiency Premium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2867769"/>
            <a:ext cx="52863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Bivariate analysis shows a clear upward trend in price as star ratings increase. High-efficiency </a:t>
            </a:r>
            <a:r>
              <a:rPr lang="en-US" sz="1500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1500" b="0" i="0" u="none" strike="noStrike" cap="none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-star models command a substantial price premium.</a:t>
            </a:r>
            <a:endParaRPr dirty="0"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3915519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This suggests that manufacturers position energy efficiency as a luxury feature, targeting environmentally conscious, high-income buyers.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Bivariate: Star Rating vs Price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11F3B4-4879-DC69-3995-0290A22A1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636" y="2073729"/>
            <a:ext cx="5159828" cy="41229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146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229626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Average Price Analysis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2867769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When comparing brands by their average selling price, we see distinct positioning. Samsung and Whirlpool compete heavily in the mid-range and smart fridge segments.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3915519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Budget tiers are populated by brands aiming for mass-market adoption, where price sensitivity is highest.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Bivariate: Price by Brand Category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38CDC2-C148-CA32-12A9-4884D0CF4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430" y="2085142"/>
            <a:ext cx="5119077" cy="40989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146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571500" y="229626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Relationships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2867769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The heatmap reveals strong positive correlations between capacity and selling price, as well as star ratings and price.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3629769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Interestingly, 'number of ratings' shows a moderate correlation with higher-priced models, indicating more consumer interaction in the premium segment.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Multivariate: Correlation Matrix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3CFD86-01C3-DA0F-3E08-2200D34C8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954" y="2079422"/>
            <a:ext cx="5016716" cy="40657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422787" y="982563"/>
            <a:ext cx="5349363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Complex Price Interactions</a:t>
            </a:r>
            <a:endParaRPr dirty="0"/>
          </a:p>
        </p:txBody>
      </p:sp>
      <p:sp>
        <p:nvSpPr>
          <p:cNvPr id="221" name="Google Shape;221;p24"/>
          <p:cNvSpPr txBox="1"/>
          <p:nvPr/>
        </p:nvSpPr>
        <p:spPr>
          <a:xfrm>
            <a:off x="325693" y="3653865"/>
            <a:ext cx="4413455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dirty="0"/>
              <a:t>Premium brands (Samsung and LG) maintain a higher price floor across all door types compared to budget-focused brands, indicating strong brand equity in the premium segments.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EB74D-3DAC-97B9-389D-4952B056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605187"/>
            <a:ext cx="4965290" cy="3494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628EEA-21DA-28D0-C528-77DFEACED24F}"/>
              </a:ext>
            </a:extLst>
          </p:cNvPr>
          <p:cNvSpPr txBox="1"/>
          <p:nvPr/>
        </p:nvSpPr>
        <p:spPr>
          <a:xfrm>
            <a:off x="325693" y="2556387"/>
            <a:ext cx="4462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Brand Positioning by Door Type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81969"/>
            <a:ext cx="3492549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81969"/>
            <a:ext cx="3492549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81969"/>
            <a:ext cx="3492549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317575" y="3658344"/>
            <a:ext cx="2000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Brand Equity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952500" y="4372719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LG and Samsung retain the highest consumer trust as evidenced by listing volume and ratings.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4875847" y="3658344"/>
            <a:ext cx="244030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Green Premium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4730799" y="4372719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Energy efficiency is the primary factor driving price inflation in the refrigerator market.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8739157" y="3658344"/>
            <a:ext cx="227028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Premium Shift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8509099" y="4372719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Consumer shift towards double-door and side-by-side units is accelerating in urban markets.</a:t>
            </a:r>
            <a:endParaRPr/>
          </a:p>
        </p:txBody>
      </p:sp>
      <p:pic>
        <p:nvPicPr>
          <p:cNvPr id="238" name="Google Shape;23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6250" y="2620119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6201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7124" y="2620119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571500" y="982563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Strategic Market Insights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/>
          <p:nvPr/>
        </p:nvSpPr>
        <p:spPr>
          <a:xfrm>
            <a:off x="5524500" y="2138362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2935605" y="2481262"/>
            <a:ext cx="632079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Final Conclusions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1809750" y="3538537"/>
            <a:ext cx="8572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The data supports a market strategy focusing on 5-star energy-efficient models. Despite higher upfront costs, these units drive significant revenue and consumer engagement across e-commerce platforms.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3">
          <a:extLst>
            <a:ext uri="{FF2B5EF4-FFF2-40B4-BE49-F238E27FC236}">
              <a16:creationId xmlns:a16="http://schemas.microsoft.com/office/drawing/2014/main" id="{4CE3649A-3F1B-36C2-0B1A-77B68EE4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7" descr="image.png">
            <a:extLst>
              <a:ext uri="{FF2B5EF4-FFF2-40B4-BE49-F238E27FC236}">
                <a16:creationId xmlns:a16="http://schemas.microsoft.com/office/drawing/2014/main" id="{9F7D3D3F-653A-42A3-FCCA-9D115C4222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5237" y="3566219"/>
            <a:ext cx="45815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>
            <a:extLst>
              <a:ext uri="{FF2B5EF4-FFF2-40B4-BE49-F238E27FC236}">
                <a16:creationId xmlns:a16="http://schemas.microsoft.com/office/drawing/2014/main" id="{E7D06C7E-BB4F-E368-CFB0-11A9F8B98121}"/>
              </a:ext>
            </a:extLst>
          </p:cNvPr>
          <p:cNvSpPr txBox="1"/>
          <p:nvPr/>
        </p:nvSpPr>
        <p:spPr>
          <a:xfrm>
            <a:off x="5430916" y="1938337"/>
            <a:ext cx="133016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  <p:sp>
        <p:nvSpPr>
          <p:cNvPr id="257" name="Google Shape;257;p27">
            <a:extLst>
              <a:ext uri="{FF2B5EF4-FFF2-40B4-BE49-F238E27FC236}">
                <a16:creationId xmlns:a16="http://schemas.microsoft.com/office/drawing/2014/main" id="{FAB907A3-1CAD-5272-3430-27903BB4037D}"/>
              </a:ext>
            </a:extLst>
          </p:cNvPr>
          <p:cNvSpPr txBox="1"/>
          <p:nvPr/>
        </p:nvSpPr>
        <p:spPr>
          <a:xfrm>
            <a:off x="4843462" y="2613719"/>
            <a:ext cx="2505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sp>
        <p:nvSpPr>
          <p:cNvPr id="258" name="Google Shape;258;p27">
            <a:extLst>
              <a:ext uri="{FF2B5EF4-FFF2-40B4-BE49-F238E27FC236}">
                <a16:creationId xmlns:a16="http://schemas.microsoft.com/office/drawing/2014/main" id="{EC5ACE8B-EC4E-55FA-D537-8AB6CD7B2EBC}"/>
              </a:ext>
            </a:extLst>
          </p:cNvPr>
          <p:cNvSpPr txBox="1"/>
          <p:nvPr/>
        </p:nvSpPr>
        <p:spPr>
          <a:xfrm>
            <a:off x="3995737" y="3966269"/>
            <a:ext cx="42005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3050"/>
                </a:solidFill>
                <a:latin typeface="DM Sans"/>
                <a:ea typeface="DM Sans"/>
                <a:cs typeface="DM Sans"/>
                <a:sym typeface="DM Sans"/>
              </a:rPr>
              <a:t>Market Analysis Lead: Refrigerator Insights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56383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3">
          <a:extLst>
            <a:ext uri="{FF2B5EF4-FFF2-40B4-BE49-F238E27FC236}">
              <a16:creationId xmlns:a16="http://schemas.microsoft.com/office/drawing/2014/main" id="{A9289850-40FE-F785-C775-93C6454C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6;p5">
            <a:extLst>
              <a:ext uri="{FF2B5EF4-FFF2-40B4-BE49-F238E27FC236}">
                <a16:creationId xmlns:a16="http://schemas.microsoft.com/office/drawing/2014/main" id="{378DBE00-7C25-FC39-6849-A65317FE1F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0530" y="1850750"/>
            <a:ext cx="5101630" cy="38813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7;p5">
            <a:extLst>
              <a:ext uri="{FF2B5EF4-FFF2-40B4-BE49-F238E27FC236}">
                <a16:creationId xmlns:a16="http://schemas.microsoft.com/office/drawing/2014/main" id="{A8D0898F-7F35-EFE2-3558-2F7F993EFEB1}"/>
              </a:ext>
            </a:extLst>
          </p:cNvPr>
          <p:cNvSpPr txBox="1"/>
          <p:nvPr/>
        </p:nvSpPr>
        <p:spPr>
          <a:xfrm>
            <a:off x="693593" y="3429000"/>
            <a:ext cx="4183347" cy="105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490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nomatics_Project_Report_Template with EDA_Project_Student_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Innomatics_Project_Report_Template with EDA_Project_Student_Template</Template>
  <TotalTime>267</TotalTime>
  <Words>917</Words>
  <Application>Microsoft Office PowerPoint</Application>
  <PresentationFormat>Widescreen</PresentationFormat>
  <Paragraphs>92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DM Sans</vt:lpstr>
      <vt:lpstr>Lato Black</vt:lpstr>
      <vt:lpstr>Arial</vt:lpstr>
      <vt:lpstr>Libre Baskerville</vt:lpstr>
      <vt:lpstr>Merriweather</vt:lpstr>
      <vt:lpstr>Innomatics_Project_Report_Template with EDA_Project_Student_Template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ABHINAV ANAND</cp:lastModifiedBy>
  <cp:revision>2</cp:revision>
  <dcterms:modified xsi:type="dcterms:W3CDTF">2026-05-20T09:55:05Z</dcterms:modified>
</cp:coreProperties>
</file>